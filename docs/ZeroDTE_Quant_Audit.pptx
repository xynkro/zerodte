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-548640"/>
            <a:ext cx="3657600" cy="2926080"/>
          </a:xfrm>
          <a:prstGeom prst="rect">
            <a:avLst/>
          </a:prstGeom>
          <a:noFill/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DC97"/>
                </a:solidFill>
                <a:latin typeface="Menlo"/>
              </a:rPr>
              <a:t>QUANT AUDIT · STRATEGY REVIEW · JUN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82880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E8EBF2"/>
                </a:solidFill>
                <a:latin typeface="Helvetica Neue"/>
              </a:rPr>
              <a:t>ZeroDTE 0DTE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9AA3B4"/>
                </a:solidFill>
                <a:latin typeface="Helvetica Neue"/>
              </a:rPr>
              <a:t>Current architecture, the trading plan, and the flaws that matter — with a prioritized fix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26280"/>
            <a:ext cx="6583680" cy="10972"/>
          </a:xfrm>
          <a:prstGeom prst="rect">
            <a:avLst/>
          </a:prstGeom>
          <a:solidFill>
            <a:srgbClr val="2A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675"/>
                </a:solidFill>
                <a:latin typeface="Menlo"/>
              </a:rPr>
              <a:t>Prepared as a senior 0DTE index-options quant. Findings are code-verified and
adversarially reviewed. Where the edge is unproven, this report says so plainly.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5B454"/>
                </a:solidFill>
                <a:latin typeface="Menl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EBF2"/>
                </a:solidFill>
                <a:latin typeface="Helvetica Neue"/>
              </a:rPr>
              <a:t>The verdict, up front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5B454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The engine is well-built; the EVIDENCE behind it is not.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Clean architecture, real gates, honest backtest. But three things quietly invalidate the 'we're validating an edge'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40864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5B454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1 · You are trading the wrong side of your own edge.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The validated +$5,479 is ~96% PUT-selling. Live has been ~100% CALL-selling — the side with 6 backtested trades and a structural headwind.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6440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5B454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2 · The 'live validation' is the model grading its own homework.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Every live P&amp;L number is a Black-Scholes mid-price simulation. The broker's real fill price is never read. You are validating the model against the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378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5B454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3 · The edge is statistically marginal and cost-fragile.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5-year backtest t-stat = 1.85 (below the 1.96 bar). 84% of profit came from 2022–23. It goes negative at ~$45/spread of cost in recent years.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7733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5B454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Bottom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Do not scale. Do not read the green number as proof. Fix the measurement, split the book by side, and re-validate honestly.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3DDC97"/>
                </a:solidFill>
                <a:latin typeface="Menlo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EBF2"/>
                </a:solidFill>
                <a:latin typeface="Helvetica Neue"/>
              </a:rPr>
              <a:t>Current architecture — how a trade is born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Source of truth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Persistent FastAPI backend (:8765). Feed: Alpaca SPY IEX ×10 → IBKR → yfinance. Telegram, the Pine indicator, and the PWA are parallel projections.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40864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Signal engine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predictor.run_backtest() rolls a 50-bar 5-min buffer through a Pine-faithful detector. A 09:30–09:45 ET observation window classifies regime (VOLATILE if obs_range/ATR &gt; 1.5 → that day trades nothing).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6440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Trigger (09:45–14:00 ET)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A Stochastic %K-vs-%D reversal cross OUT of an 80/20 extreme. Overbought cross-down → sell-call; oversold cross-up → sell-put.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87952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8 hard gates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confluence ≥ 3/4 · VWAP alignment · trend filter · per-side cooldown · max 3 trades/day · max 3 concurrent · VIX bucket · macro blackout · mid-session vol re-gate · 2%/day loss limit.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11496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Pricing &amp; exits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Strikes at 30Δ via Black-Scholes bisection (flat vol = realized 5-min σ × 1.20). $10 SPX wing. TP at 90% of credit. No stop-ladder. Time-stop 15:30 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Execution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SPX → SPY at 1/10 scale ($1 grid). MARKET multi-leg orders to Alpaca paper.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3DDC97"/>
                </a:solidFill>
                <a:latin typeface="Menlo"/>
              </a:rP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EBF2"/>
                </a:solidFill>
                <a:latin typeface="Helvetica Neue"/>
              </a:rPr>
              <a:t>The live configuration (verified in .env)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4864" cy="1463040"/>
          </a:xfrm>
          <a:prstGeom prst="rect">
            <a:avLst/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8EBF2"/>
                </a:solidFill>
                <a:latin typeface="Menlo"/>
              </a:rPr>
              <a:t>$10,000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554480"/>
            <a:ext cx="54864" cy="1463040"/>
          </a:xfrm>
          <a:prstGeom prst="rect">
            <a:avLst/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RISK / TRADE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8EBF2"/>
                </a:solidFill>
                <a:latin typeface="Menlo"/>
              </a:rPr>
              <a:t>4% = $400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554480"/>
            <a:ext cx="54864" cy="1463040"/>
          </a:xfrm>
          <a:prstGeom prst="rect">
            <a:avLst/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MAX TRADES/DAY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8EBF2"/>
                </a:solidFill>
                <a:latin typeface="Menlo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1704" y="1554480"/>
            <a:ext cx="54864" cy="1463040"/>
          </a:xfrm>
          <a:prstGeom prst="rect">
            <a:avLst/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NO NEW ENTRY 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8EBF2"/>
                </a:solidFill>
                <a:latin typeface="Menlo"/>
              </a:rPr>
              <a:t>14:00 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291840"/>
            <a:ext cx="54864" cy="1463040"/>
          </a:xfrm>
          <a:prstGeom prst="rect">
            <a:avLst/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SHORT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8EBF2"/>
                </a:solidFill>
                <a:latin typeface="Menlo"/>
              </a:rPr>
              <a:t>~30Δ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8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47288" y="3291840"/>
            <a:ext cx="54864" cy="1463040"/>
          </a:xfrm>
          <a:prstGeom prst="rect">
            <a:avLst/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WING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8456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8EBF2"/>
                </a:solidFill>
                <a:latin typeface="Menlo"/>
              </a:rPr>
              <a:t>$10 SPX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4496" y="3291840"/>
            <a:ext cx="54864" cy="146304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TAKE-PROFIT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3DDC97"/>
                </a:solidFill>
                <a:latin typeface="Menlo"/>
              </a:rPr>
              <a:t>90% credit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1704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61704" y="3291840"/>
            <a:ext cx="54864" cy="14630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2872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P&amp;L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5B454"/>
                </a:solidFill>
                <a:latin typeface="Menlo"/>
              </a:rPr>
              <a:t>BS-mid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166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3B4"/>
                </a:solidFill>
                <a:latin typeface="Helvetica Neue"/>
              </a:rPr>
              <a:t>Sizing reality: $400 budget vs ~$650 max-loss/contract → recommend_contracts floors to exactly 1 contract every trade. So the GEX size-trim and the dollar-based concurrency controls are structurally inert — they can never fire at this account size.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9DFF"/>
                </a:solidFill>
                <a:latin typeface="Menlo"/>
              </a:rPr>
              <a:t>THE CORE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EBF2"/>
                </a:solidFill>
                <a:latin typeface="Helvetica Neue"/>
              </a:rPr>
              <a:t>How the system picks CALL vs PUT  —  and why it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166360" cy="4572000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166360" cy="502920"/>
          </a:xfrm>
          <a:prstGeom prst="rect">
            <a:avLst/>
          </a:prstGeom>
          <a:solidFill>
            <a:srgbClr val="18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91056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9DFF"/>
                </a:solidFill>
                <a:latin typeface="Menlo"/>
              </a:rPr>
              <a:t>THE RULE (predictor.py:388-413)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9DFF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Sell-CALL fires on an overbought cross-down, UNLESS trend == 'up'.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00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9DFF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Sell-PUT fires on an oversold cross-up, UNLESS trend == 'down'.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272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9DFF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Trend = EMA10−EMA30 spread vs ±0.05%. Inside that band = 'flat' → BOTH sides fire.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844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9DFF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In a quiet up-drift the stoch hits OVERBOUGHT far more than oversold → the trigger manufactures CALL signals.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87952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9DFF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A gentle grind reads 'flat', so the trend filter never blocks those counter-trend calls.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08760"/>
            <a:ext cx="5166360" cy="4572000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508760"/>
            <a:ext cx="5166360" cy="502920"/>
          </a:xfrm>
          <a:prstGeom prst="rect">
            <a:avLst/>
          </a:prstGeom>
          <a:solidFill>
            <a:srgbClr val="18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591056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5D6C"/>
                </a:solidFill>
                <a:latin typeface="Menlo"/>
              </a:rPr>
              <a:t>THE CONSEQUENCE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128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5D6C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Validated edge = sell-PUTS-on-dips (with the market's upward drift + fear premium). Robust.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700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5D6C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Live book = sell-CALLS-on-rallies. Works only in genuine down/chop; loses in a stealth grind-up.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73552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5D6C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Backtest: 147 puts (+$5,357) vs 6 calls (+$121). The call book is essentially un-tested.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30752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5D6C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→ Live is trading the unvalidated, structurally-weak side, in the regime that punishes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5B454"/>
                </a:solidFill>
                <a:latin typeface="Menlo"/>
              </a:rPr>
              <a:t>STATISTICAL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EBF2"/>
                </a:solidFill>
                <a:latin typeface="Helvetica Neue"/>
              </a:rPr>
              <a:t>What the headline number actually proves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4864" cy="146304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5YR P&amp;L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3DDC97"/>
                </a:solidFill>
                <a:latin typeface="Menlo"/>
              </a:rPr>
              <a:t>+$5,479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554480"/>
            <a:ext cx="54864" cy="1463040"/>
          </a:xfrm>
          <a:prstGeom prst="rect">
            <a:avLst/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PER-TRADE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8EBF2"/>
                </a:solidFill>
                <a:latin typeface="Menlo"/>
              </a:rPr>
              <a:t>+$35.8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554480"/>
            <a:ext cx="54864" cy="14630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PER-TRADE 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5B454"/>
                </a:solidFill>
                <a:latin typeface="Menlo"/>
              </a:rPr>
              <a:t>$240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1704" y="1554480"/>
            <a:ext cx="54864" cy="1463040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T-STAT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5D6C"/>
                </a:solidFill>
                <a:latin typeface="Menlo"/>
              </a:rPr>
              <a:t>1.85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291840"/>
            <a:ext cx="54864" cy="1463040"/>
          </a:xfrm>
          <a:prstGeom prst="rect">
            <a:avLst/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95% 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E8EBF2"/>
                </a:solidFill>
                <a:latin typeface="Menlo"/>
              </a:rPr>
              <a:t>t &gt; 1.96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8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47288" y="3291840"/>
            <a:ext cx="54864" cy="14630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CLEAN TRADES TO CONFIRM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8456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5B454"/>
                </a:solidFill>
                <a:latin typeface="Menlo"/>
              </a:rPr>
              <a:t>~173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4496" y="3291840"/>
            <a:ext cx="54864" cy="1463040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LIVE TRADES SO FAR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5D6C"/>
                </a:solidFill>
                <a:latin typeface="Menlo"/>
              </a:rPr>
              <a:t>~4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1704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61704" y="3291840"/>
            <a:ext cx="54864" cy="14630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2872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FROM 2022–23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5B454"/>
                </a:solidFill>
                <a:latin typeface="Menlo"/>
              </a:rPr>
              <a:t>84%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166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3B4"/>
                </a:solidFill>
                <a:latin typeface="Helvetica Neue"/>
              </a:rPr>
              <a:t>Even five years of backtest does NOT clear the 95% significance bar. The mean edge is small relative to the noise, and the bulk of it is a 2022–23 bear-market put-selling artifact. A handful of paper trades cannot possibly confirm this.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64008" cy="457200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70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5D6C"/>
                </a:solidFill>
                <a:latin typeface="Menlo"/>
              </a:rPr>
              <a:t>THE FLAWS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6324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EBF2"/>
                </a:solidFill>
                <a:latin typeface="Helvetica Neue"/>
              </a:rPr>
              <a:t>Where it actually costs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5D6C"/>
                </a:solidFill>
                <a:latin typeface="Menlo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8EBF2"/>
                </a:solidFill>
                <a:latin typeface="Helvetica Neue"/>
              </a:rPr>
              <a:t>Strategy — the put / call inversion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10927080" cy="2039111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27632"/>
            <a:ext cx="64008" cy="2039111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BF2"/>
                </a:solidFill>
                <a:latin typeface="Helvetica Neue"/>
              </a:rPr>
              <a:t>Live trades the CALL book; the validated edge is 96% 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7556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5D6C"/>
                </a:solidFill>
                <a:latin typeface="Menlo"/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2"/>
            <a:ext cx="10515600" cy="1581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A3B4"/>
                </a:solidFill>
                <a:latin typeface="Helvetica Neue"/>
              </a:rPr>
              <a:t>Sell-calls-on-rallies is counter-trend in an up-drift and has only 6 backtested trades (+$121) behind it. The +$5,479 is the put book. The trend filter's 0.05% 'flat' band lets counter-trend calls through in a stealth grind.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DDC97"/>
                </a:solidFill>
                <a:latin typeface="Menlo"/>
              </a:rPr>
              <a:t>FIX  </a:t>
            </a:r>
            <a:r>
              <a:rPr sz="1150" b="0">
                <a:solidFill>
                  <a:srgbClr val="E8EBF2"/>
                </a:solidFill>
                <a:latin typeface="Helvetica Neue"/>
              </a:rPr>
              <a:t>Split ALL reporting into put-book vs call-book (done). Stage a flag to suppress / down-size the call book pending a per-side backtest. Re-frame the strategy honestly as put-driven.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31335"/>
            <a:ext cx="10927080" cy="2039111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31335"/>
            <a:ext cx="64008" cy="2039111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41063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BF2"/>
                </a:solidFill>
                <a:latin typeface="Helvetica Neue"/>
              </a:rPr>
              <a:t>Strikes priced on a FLAT volatility surface — no skew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95935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5D6C"/>
                </a:solidFill>
                <a:latin typeface="Menlo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88536"/>
            <a:ext cx="10515600" cy="1581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A3B4"/>
                </a:solidFill>
                <a:latin typeface="Helvetica Neue"/>
              </a:rPr>
              <a:t>tv = realized 5-min σ × 1.20 is symmetric. Real 0DTE puts carry a rich skew premium; calls are cheaper. A flat surface over-credits calls and under-credits puts — flattering exactly the side you shouldn't be selling.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DDC97"/>
                </a:solidFill>
                <a:latin typeface="Menlo"/>
              </a:rPr>
              <a:t>FIX  </a:t>
            </a:r>
            <a:r>
              <a:rPr sz="1150" b="0">
                <a:solidFill>
                  <a:srgbClr val="E8EBF2"/>
                </a:solidFill>
                <a:latin typeface="Helvetica Neue"/>
              </a:rPr>
              <a:t>Add a two-parameter skew (put-IV uplift, call-IV discount) calibrated to sampled real chains; re-run the backtest before trusting any call-side attribution.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5D6C"/>
                </a:solidFill>
                <a:latin typeface="Menlo"/>
              </a:rPr>
              <a:t>COST /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8EBF2"/>
                </a:solidFill>
                <a:latin typeface="Helvetica Neue"/>
              </a:rPr>
              <a:t>Measurement — the validation is circular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10927080" cy="2039111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27632"/>
            <a:ext cx="64008" cy="2039111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BF2"/>
                </a:solidFill>
                <a:latin typeface="Helvetica Neue"/>
              </a:rPr>
              <a:t>P&amp;L is a Black-Scholes mid-price simulation grading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7556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5D6C"/>
                </a:solidFill>
                <a:latin typeface="Menlo"/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2"/>
            <a:ext cx="10515600" cy="1581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A3B4"/>
                </a:solidFill>
                <a:latin typeface="Helvetica Neue"/>
              </a:rPr>
              <a:t>Every live pt.pnl = estimated_credit × exit_pct − $25, with both credit and exit = bs.spread_value() (theoretical mid). A full grep confirms filled_avg_price / avg_price are NEVER read. The 'shadow validation' and the backtest are two outputs of the SAME kernel — it cannot observe slippage at all.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DDC97"/>
                </a:solidFill>
                <a:latin typeface="Menlo"/>
              </a:rPr>
              <a:t>FIX  </a:t>
            </a:r>
            <a:r>
              <a:rPr sz="1150" b="0">
                <a:solidFill>
                  <a:srgbClr val="E8EBF2"/>
                </a:solidFill>
                <a:latin typeface="Helvetica Neue"/>
              </a:rPr>
              <a:t>Read Alpaca filled_avg_price per leg → store broker_realized_pnl SEPARATELY from model_pnl. Judge the 4–6-week validation on broker-realized P&amp;L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31335"/>
            <a:ext cx="10927080" cy="2039111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31335"/>
            <a:ext cx="64008" cy="2039111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41063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BF2"/>
                </a:solidFill>
                <a:latin typeface="Helvetica Neue"/>
              </a:rPr>
              <a:t>MARKET multi-leg orders guarantee worst-case slippage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95935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5D6C"/>
                </a:solidFill>
                <a:latin typeface="Menlo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88536"/>
            <a:ext cx="10515600" cy="1581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A3B4"/>
                </a:solidFill>
                <a:latin typeface="Helvetica Neue"/>
              </a:rPr>
              <a:t>alpaca_trader.py submits type='market' mleg orders. On 0DTE wings the bid/ask is wide; market orders cross the full spread on entry AND exit. The model assumes mid on both — so realized cost is structurally worse than the $25 the backtest charges.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DDC97"/>
                </a:solidFill>
                <a:latin typeface="Menlo"/>
              </a:rPr>
              <a:t>FIX  </a:t>
            </a:r>
            <a:r>
              <a:rPr sz="1150" b="0">
                <a:solidFill>
                  <a:srgbClr val="E8EBF2"/>
                </a:solidFill>
                <a:latin typeface="Helvetica Neue"/>
              </a:rPr>
              <a:t>Move to marketable-limit at mid (1 tick give), short reprice loop, market only as a time-stop fallback. Add a liquidity gate once a live NBBO feed exists.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5D6C"/>
                </a:solidFill>
                <a:latin typeface="Menlo"/>
              </a:rP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8EBF2"/>
                </a:solidFill>
                <a:latin typeface="Helvetica Neue"/>
              </a:rPr>
              <a:t>Backend logic — the live path doesn't match the backtest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10927080" cy="1304543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27632"/>
            <a:ext cx="64008" cy="1304543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BF2"/>
                </a:solidFill>
                <a:latin typeface="Helvetica Neue"/>
              </a:rPr>
              <a:t>Exits evaluate on the DEVELOPING 5-minute bar → phantom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7556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5D6C"/>
                </a:solidFill>
                <a:latin typeface="Menlo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2"/>
            <a:ext cx="10515600" cy="847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A3B4"/>
                </a:solidFill>
                <a:latin typeface="Helvetica Neue"/>
              </a:rPr>
              <a:t>The feed re-dispatches the still-forming bar every 60s and _check_open_wave_trades runs on every dispatch with no bar-closed guard. honest_backtest only acts on CLOSED bars (worst-first). Live can book an intra-bar TP the backtest would never see — corrupting the small sample optimistically.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DDC97"/>
                </a:solidFill>
                <a:latin typeface="Menlo"/>
              </a:rPr>
              <a:t>FIX  </a:t>
            </a:r>
            <a:r>
              <a:rPr sz="1150" b="0">
                <a:solidFill>
                  <a:srgbClr val="E8EBF2"/>
                </a:solidFill>
                <a:latin typeface="Helvetica Neue"/>
              </a:rPr>
              <a:t>Gate exit evaluation to closed bars only (act on bar N when a newer timestamp arrives). Keep intra-bar dispatch for quotes/UI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96768"/>
            <a:ext cx="10927080" cy="1304543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96768"/>
            <a:ext cx="64008" cy="1304543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0649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BF2"/>
                </a:solidFill>
                <a:latin typeface="Helvetica Neue"/>
              </a:rPr>
              <a:t>Volatility is frozen at entry — blind to intraday IV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22478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5D6C"/>
                </a:solidFill>
                <a:latin typeface="Menlo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53968"/>
            <a:ext cx="10515600" cy="847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A3B4"/>
                </a:solidFill>
                <a:latin typeface="Helvetica Neue"/>
              </a:rPr>
              <a:t>bs_realized_std is captured once and only time-to-expiry shrinks. On an afternoon news-pop the frozen-low vol under-prices the loss side: the model says −60% while you're really near +110% and breaching. It mis-prices exactly the fat-tail days.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DDC97"/>
                </a:solidFill>
                <a:latin typeface="Menlo"/>
              </a:rPr>
              <a:t>FIX  </a:t>
            </a:r>
            <a:r>
              <a:rPr sz="1150" b="0">
                <a:solidFill>
                  <a:srgbClr val="E8EBF2"/>
                </a:solidFill>
                <a:latin typeface="Helvetica Neue"/>
              </a:rPr>
              <a:t>Add a conservative vol-floor ratchet (lift tv when rolling realized vol exceeds entry; never reduce a loss estimate). Re-validate.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65904"/>
            <a:ext cx="10927080" cy="1304543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565904"/>
            <a:ext cx="64008" cy="1304543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756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BF2"/>
                </a:solidFill>
                <a:latin typeface="Helvetica Neue"/>
              </a:rPr>
              <a:t>Restart / outage holes corrupt the small-sample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6939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5D6C"/>
                </a:solidFill>
                <a:latin typeface="Menlo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3104"/>
            <a:ext cx="10515600" cy="847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A3B4"/>
                </a:solidFill>
                <a:latin typeface="Helvetica Neue"/>
              </a:rPr>
              <a:t>Signal keys are in-memory only; a mid-session restart re-dispatches the day's bars and can re-book phantom duplicate trades (burning the 3/day cap, injecting fake P&amp;L). Prior-day 0DTE positions aren't force-settled on startup before the day-gate discards them.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DDC97"/>
                </a:solidFill>
                <a:latin typeface="Menlo"/>
              </a:rPr>
              <a:t>FIX  </a:t>
            </a:r>
            <a:r>
              <a:rPr sz="1150" b="0">
                <a:solidFill>
                  <a:srgbClr val="E8EBF2"/>
                </a:solidFill>
                <a:latin typeface="Helvetica Neue"/>
              </a:rPr>
              <a:t>Persist signal keys + a hard bar-age guard so backfilled signals never open trades; force-settle open prior-date 0DTE on startup; append-only ledger (done).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5D6C"/>
                </a:solidFill>
                <a:latin typeface="Menlo"/>
              </a:rPr>
              <a:t>MACRO /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8EBF2"/>
                </a:solidFill>
                <a:latin typeface="Helvetica Neue"/>
              </a:rPr>
              <a:t>Macro &amp; timing — the backtest and the live system are different animals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10927080" cy="1304543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27632"/>
            <a:ext cx="64008" cy="1304543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BF2"/>
                </a:solidFill>
                <a:latin typeface="Helvetica Neue"/>
              </a:rPr>
              <a:t>Backtest has ZERO event awareness; live blocks event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7556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5D6C"/>
                </a:solidFill>
                <a:latin typeface="Menlo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2"/>
            <a:ext cx="10515600" cy="847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A3B4"/>
                </a:solidFill>
                <a:latin typeface="Helvetica Neue"/>
              </a:rPr>
              <a:t>honest_backtest takes every signal; live enforces a hard macro blackout. 22% of the validated exits land on FOMC/CPI/NFP/OPEX days and were MORE profitable in-sample. So live blocks the days that disproportionately built the edge — the headline number doesn't describe how it actually trades.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DDC97"/>
                </a:solidFill>
                <a:latin typeface="Menlo"/>
              </a:rPr>
              <a:t>FIX  </a:t>
            </a:r>
            <a:r>
              <a:rPr sz="1150" b="0">
                <a:solidFill>
                  <a:srgbClr val="E8EBF2"/>
                </a:solidFill>
                <a:latin typeface="Helvetica Neue"/>
              </a:rPr>
              <a:t>Re-run the backtest with a macro-calendar overlay: 'event-days-included' vs 'event-days-blocked' P&amp;L. The single most valuable missing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96768"/>
            <a:ext cx="10927080" cy="1304543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96768"/>
            <a:ext cx="64008" cy="1304543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0649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BF2"/>
                </a:solidFill>
                <a:latin typeface="Helvetica Neue"/>
              </a:rPr>
              <a:t>Dealer-gamma (GEX) is collected but never acted on — and is inert at 1-contract sizing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22478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5D6C"/>
                </a:solidFill>
                <a:latin typeface="Menlo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53968"/>
            <a:ext cx="10515600" cy="847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A3B4"/>
                </a:solidFill>
                <a:latin typeface="Helvetica Neue"/>
              </a:rPr>
              <a:t>Negative GEX = vol-amplified = the short strike is likelier to breach before TP. The system stamps the regime for logging and trades full size into it. The only implemented response is a size-trim that cannot fire when every trade is 1 contract.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DDC97"/>
                </a:solidFill>
                <a:latin typeface="Menlo"/>
              </a:rPr>
              <a:t>FIX  </a:t>
            </a:r>
            <a:r>
              <a:rPr sz="1150" b="0">
                <a:solidFill>
                  <a:srgbClr val="E8EBF2"/>
                </a:solidFill>
                <a:latin typeface="Helvetica Neue"/>
              </a:rPr>
              <a:t>Measure breach rate on negative vs positive GEX days in the backtest first; if adverse, use GEX as a STAND-ASIDE / IC-only gate (not a size-trim).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65904"/>
            <a:ext cx="10927080" cy="1304543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565904"/>
            <a:ext cx="64008" cy="1304543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756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BF2"/>
                </a:solidFill>
                <a:latin typeface="Helvetica Neue"/>
              </a:rPr>
              <a:t>Event-day EXIT costs unmodeled; macro gate can fail silently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6939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5B454"/>
                </a:solidFill>
                <a:latin typeface="Menlo"/>
              </a:rPr>
              <a:t>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3104"/>
            <a:ext cx="10515600" cy="847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A3B4"/>
                </a:solidFill>
                <a:latin typeface="Helvetica Neue"/>
              </a:rPr>
              <a:t>Both engines charge a flat $25 on FOMC as on a quiet Tuesday; open positions exit into 3–5× wider spreads at the modeled mid. A 3× closing haircut drops the validated total to $4,629 (t→1.56); 5× to $3,779 (t→1.28). The blackout also depends on impact-string labels that can drift (e.g. a missing PCE).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DDC97"/>
                </a:solidFill>
                <a:latin typeface="Menlo"/>
              </a:rPr>
              <a:t>FIX  </a:t>
            </a:r>
            <a:r>
              <a:rPr sz="1150" b="0">
                <a:solidFill>
                  <a:srgbClr val="E8EBF2"/>
                </a:solidFill>
                <a:latin typeface="Helvetica Neue"/>
              </a:rPr>
              <a:t>Add an event-day cost multiplier to the backtest; emit a morning log of exactly which events were classified high-impact and their blackout windows.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5D6C"/>
                </a:solidFill>
                <a:latin typeface="Menlo"/>
              </a:rPr>
              <a:t>COST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EBF2"/>
                </a:solidFill>
                <a:latin typeface="Helvetica Neue"/>
              </a:rPr>
              <a:t>The edge curve — where it dies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4864" cy="146304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$25 /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3DDC97"/>
                </a:solidFill>
                <a:latin typeface="Menlo"/>
              </a:rPr>
              <a:t>+$5,479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554480"/>
            <a:ext cx="54864" cy="14630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$35 / SPREAD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5B454"/>
                </a:solidFill>
                <a:latin typeface="Menlo"/>
              </a:rPr>
              <a:t>+$3,949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554480"/>
            <a:ext cx="54864" cy="1463040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$45 / SPREAD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5D6C"/>
                </a:solidFill>
                <a:latin typeface="Menlo"/>
              </a:rPr>
              <a:t>≈ $0 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55448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1704" y="1554480"/>
            <a:ext cx="54864" cy="1463040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75564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$60 /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12140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5D6C"/>
                </a:solidFill>
                <a:latin typeface="Menlo"/>
              </a:rPr>
              <a:t>+$124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291840"/>
            <a:ext cx="54864" cy="14630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2022–23 SHARE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5B454"/>
                </a:solidFill>
                <a:latin typeface="Menlo"/>
              </a:rPr>
              <a:t>84%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8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47288" y="3291840"/>
            <a:ext cx="54864" cy="1463040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RECENT-REGIME P&amp;L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8456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5D6C"/>
                </a:solidFill>
                <a:latin typeface="Menlo"/>
              </a:rPr>
              <a:t>~$678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4496" y="3291840"/>
            <a:ext cx="54864" cy="14630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LIVE BREAKEVEN (SPY)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5B454"/>
                </a:solidFill>
                <a:latin typeface="Menlo"/>
              </a:rPr>
              <a:t>~$6/spr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1704" y="3291840"/>
            <a:ext cx="2551176" cy="1463040"/>
          </a:xfrm>
          <a:prstGeom prst="roundRect">
            <a:avLst/>
          </a:prstGeom>
          <a:solidFill>
            <a:srgbClr val="181D28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61704" y="3291840"/>
            <a:ext cx="54864" cy="1463040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2872" y="3493008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D6675"/>
                </a:solidFill>
                <a:latin typeface="Menlo"/>
              </a:rPr>
              <a:t>ORDER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385876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5D6C"/>
                </a:solidFill>
                <a:latin typeface="Menlo"/>
              </a:rPr>
              <a:t>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166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3B4"/>
                </a:solidFill>
                <a:latin typeface="Helvetica Neue"/>
              </a:rPr>
              <a:t>* At $45/spread the 2024, 2025 and 2026 years are individually negative. Realistic 0DTE costs are $15–40 + market-order slippage on top. The edge sits INSIDE the cost-assumption error bar — and the regime you actually trade in now contributed almost none of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3DDC97"/>
                </a:solidFill>
                <a:latin typeface="Menlo"/>
              </a:rPr>
              <a:t>THE FIX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EBF2"/>
                </a:solidFill>
                <a:latin typeface="Helvetica Neue"/>
              </a:rPr>
              <a:t>Recommendations — in priority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1 · Confront the put/call inversion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Report per-side. Stop reading the +$5,479 as evidence for the call book. Stage call-suppression / down-sizing pending a per-side backtest.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40864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2 · Wire REAL fills into the ledger before any deploy decision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Read filled_avg_price; store broker_realized_pnl beside model_pnl; judge validation on broker-realized only. Move off market 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7326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3 · Fix the developing-bar exit bug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Gate exits to closed bars so the live path mirrors the backtest it claims to validate.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087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4 · Run the event-overlay backtest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Event-included vs event-blocked P&amp;L; tag trades by GEX regime and OPEX. Cheapest high-value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5 · Stress cost &amp; demand significance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Publish the $25/$40/$50/$61 curve in every debrief. Do not scale contracts until it survives $50+ AND ~100 clean broker-realized trades.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40864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6 · Close the restart / expiry data holes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Bar-age guard; force-settle prior-day 0DTE on startup; append-only ledger. One lost ITM loser distorts a 4-trade sample.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64408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7 · Price the tails honestly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Conservative vol-floor ratchet so intraday vol expansion lifts the loss side.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187952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DDC97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8 · Act on GEX or stop claiming it as a safety control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Validate negative-vs-positive breach rates, then use GEX as a stand-aside gate — or drop the claim.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3DDC97"/>
                </a:solidFill>
                <a:latin typeface="Menlo"/>
              </a:rPr>
              <a:t>CHANGE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EBF2"/>
                </a:solidFill>
                <a:latin typeface="Helvetica Neue"/>
              </a:rPr>
              <a:t>What I changed tonight  vs  what I staged for your sign-off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166360" cy="4572000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166360" cy="502920"/>
          </a:xfrm>
          <a:prstGeom prst="rect">
            <a:avLst/>
          </a:prstGeom>
          <a:solidFill>
            <a:srgbClr val="18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91056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DC97"/>
                </a:solidFill>
                <a:latin typeface="Menlo"/>
              </a:rPr>
              <a:t>DEPLOYED NOW  (safe · no edge change)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97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Put-book vs call-book split in the debrief + EOD.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00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97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Cost-sensitivity edge curve ($25→$61) in the backtest + debrief anchors.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272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97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Append-only persisted trade ledger (never date-gated).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844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97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Broker-fill instrumentation scaffold (model_pnl vs broker_realized_pnl).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416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97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Config flags added, defaulting to CURRENT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08760"/>
            <a:ext cx="5166360" cy="4572000"/>
          </a:xfrm>
          <a:prstGeom prst="roundRect">
            <a:avLst/>
          </a:prstGeom>
          <a:solidFill>
            <a:srgbClr val="12161F"/>
          </a:solidFill>
          <a:ln w="9525">
            <a:solidFill>
              <a:srgbClr val="2A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508760"/>
            <a:ext cx="5166360" cy="502920"/>
          </a:xfrm>
          <a:prstGeom prst="rect">
            <a:avLst/>
          </a:prstGeom>
          <a:solidFill>
            <a:srgbClr val="18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591056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B454"/>
                </a:solidFill>
                <a:latin typeface="Menlo"/>
              </a:rPr>
              <a:t>STAGED  (flag, OFF by default — your call)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128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B454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DIRECTIONAL_SUPPRESS_CALLS — kill / down-size the call book.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700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B454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EXIT_ON_CLOSED_BAR_ONLY — fix the developing-bar exits.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272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B454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Skew-aware pricing; vol-floor ratchet (re-validate first).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844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B454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Marketable-limit execution; event-day timing + cost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41648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B454"/>
                </a:solidFill>
                <a:latin typeface="Helvetica Neue"/>
              </a:rPr>
              <a:t>•  </a:t>
            </a:r>
            <a:r>
              <a:rPr sz="1150" b="0">
                <a:solidFill>
                  <a:srgbClr val="9AA3B4"/>
                </a:solidFill>
                <a:latin typeface="Helvetica Neue"/>
              </a:rPr>
              <a:t>GEX stand-aside gate; tighter trend filter.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64008" cy="31089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9DFF"/>
                </a:solidFill>
                <a:latin typeface="Menlo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EBF2"/>
                </a:solidFill>
                <a:latin typeface="Helvetica Neue"/>
              </a:rPr>
              <a:t>The bottom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B9DFF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You have not yet proven anything — and that's fine, if you measure honestly.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The architecture is sound. The problem is the instrument panel is wired to the model, not the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4211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B9DFF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Three numbers to live by from here: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broker-realized P&amp;L (not model P&amp;L) · per-side edge (puts vs calls) · the cost-curve breakeven. Everything else is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7755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B9DFF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Do this before risking a cent of real money: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≥ ~100 clean, broker-realized, closed-bar trades · positive at $50+/spread cost · put/call mix consistent with the backtest · drawdown inside −$1,581.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51299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B9DFF"/>
                </a:solidFill>
                <a:latin typeface="Menlo"/>
              </a:rPr>
              <a:t>›  </a:t>
            </a:r>
            <a:r>
              <a:rPr sz="1450" b="1">
                <a:solidFill>
                  <a:srgbClr val="E8EBF2"/>
                </a:solidFill>
                <a:latin typeface="Helvetica Neue"/>
              </a:rPr>
              <a:t>The discipline that makes money here is subtraction: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E8EBF2"/>
                </a:solidFill>
                <a:latin typeface="Helvetica Neue"/>
              </a:rPr>
              <a:t>    </a:t>
            </a:r>
            <a:r>
              <a:rPr sz="1200" b="0">
                <a:solidFill>
                  <a:srgbClr val="9AA3B4"/>
                </a:solidFill>
                <a:latin typeface="Helvetica Neue"/>
              </a:rPr>
              <a:t>fewer trades, the right side, real fills, and the patience to let the sample speak. The edge — if it's real — is a put-selling edge. Trade that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ZeroDTE · Quant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D6675"/>
                </a:solidFill>
                <a:latin typeface="Menl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