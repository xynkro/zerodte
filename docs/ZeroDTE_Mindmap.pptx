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6600">
                <a:solidFill>
                  <a:srgbClr val="E6E9EF"/>
                </a:solidFill>
                <a:latin typeface="Calibri"/>
              </a:rPr>
              <a:t>ZeroDTE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5156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200">
                <a:solidFill>
                  <a:srgbClr val="8A93A6"/>
                </a:solidFill>
                <a:latin typeface="Calibri"/>
              </a:rPr>
              <a:t>0DTE SPX Directional Credit-Spread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200400"/>
            <a:ext cx="10424160" cy="1554480"/>
          </a:xfrm>
          <a:prstGeom prst="roundRect">
            <a:avLst>
              <a:gd name="adj" fmla="val 6000"/>
            </a:avLst>
          </a:prstGeom>
          <a:solidFill>
            <a:srgbClr val="151922"/>
          </a:solidFill>
          <a:ln w="22225">
            <a:solidFill>
              <a:srgbClr val="26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200400"/>
            <a:ext cx="91440" cy="155448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337560"/>
            <a:ext cx="9966960" cy="13258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b="1" sz="1500">
                <a:solidFill>
                  <a:srgbClr val="26A69A"/>
                </a:solidFill>
                <a:latin typeface="Calibri"/>
              </a:rPr>
              <a:t>★  NORTHSTAR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>
                <a:solidFill>
                  <a:srgbClr val="E6E9EF"/>
                </a:solidFill>
                <a:latin typeface="Calibri"/>
              </a:rPr>
              <a:t>The backend is the boss. Telegram, the TradingView Pine indicator, and the PWA are parallel projections of ONE validated source of truth — never independent opinions.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10515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300">
                <a:solidFill>
                  <a:srgbClr val="8A93A6"/>
                </a:solidFill>
                <a:latin typeface="Calibri"/>
              </a:rPr>
              <a:t>System Mindmap  ·  Principles of Operation  · 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"/>
            <a:ext cx="12191695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b="1" sz="2000">
                <a:solidFill>
                  <a:srgbClr val="E6E9EF"/>
                </a:solidFill>
                <a:latin typeface="Calibri"/>
              </a:rPr>
              <a:t>System Mindmap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4251960" y="2697480"/>
            <a:ext cx="274320" cy="640080"/>
          </a:xfrm>
          <a:prstGeom prst="line">
            <a:avLst/>
          </a:prstGeom>
          <a:ln w="25400">
            <a:solidFill>
              <a:srgbClr val="26A6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662672" y="2697480"/>
            <a:ext cx="283464" cy="640080"/>
          </a:xfrm>
          <a:prstGeom prst="line">
            <a:avLst/>
          </a:prstGeom>
          <a:ln w="25400">
            <a:solidFill>
              <a:srgbClr val="F0A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4251960" y="3520440"/>
            <a:ext cx="274320" cy="640080"/>
          </a:xfrm>
          <a:prstGeom prst="line">
            <a:avLst/>
          </a:prstGeom>
          <a:ln w="25400">
            <a:solidFill>
              <a:srgbClr val="5B8D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662672" y="3520440"/>
            <a:ext cx="283464" cy="640080"/>
          </a:xfrm>
          <a:prstGeom prst="line">
            <a:avLst/>
          </a:prstGeom>
          <a:ln w="25400">
            <a:solidFill>
              <a:srgbClr val="A78B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26280" y="2697480"/>
            <a:ext cx="3136392" cy="1463040"/>
          </a:xfrm>
          <a:prstGeom prst="roundRect">
            <a:avLst>
              <a:gd name="adj" fmla="val 12000"/>
            </a:avLst>
          </a:prstGeom>
          <a:solidFill>
            <a:srgbClr val="151922"/>
          </a:solidFill>
          <a:ln w="25400">
            <a:solidFill>
              <a:srgbClr val="26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843784"/>
            <a:ext cx="2807208" cy="11704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b="1" sz="1400">
                <a:solidFill>
                  <a:srgbClr val="26A69A"/>
                </a:solidFill>
                <a:latin typeface="Calibri"/>
              </a:rPr>
              <a:t>★ NORTHSTAR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9EF"/>
                </a:solidFill>
                <a:latin typeface="Calibri"/>
              </a:rPr>
              <a:t>The backend is the boss.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9EF"/>
                </a:solidFill>
                <a:latin typeface="Calibri"/>
              </a:rPr>
              <a:t>All outputs are faithful projections of one validated 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68680"/>
            <a:ext cx="3886200" cy="246888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68680"/>
            <a:ext cx="82296" cy="246888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987552"/>
            <a:ext cx="3520440" cy="22311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50">
                <a:solidFill>
                  <a:srgbClr val="26A69A"/>
                </a:solidFill>
                <a:latin typeface="Calibri"/>
              </a:rPr>
              <a:t>🎯  INTENT — what we set out to do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Fire ONLY the backtested edge — never noise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Execute faithfully (paper fills, honest ledger)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Inform + control from anywhere, any device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Projections never diverge from the boss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6136" y="868680"/>
            <a:ext cx="3886200" cy="246888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46136" y="868680"/>
            <a:ext cx="82296" cy="2468880"/>
          </a:xfrm>
          <a:prstGeom prst="rect">
            <a:avLst/>
          </a:prstGeom>
          <a:solidFill>
            <a:srgbClr val="F0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4" y="987552"/>
            <a:ext cx="3520440" cy="22311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50">
                <a:solidFill>
                  <a:srgbClr val="F0A33C"/>
                </a:solidFill>
                <a:latin typeface="Calibri"/>
              </a:rPr>
              <a:t>⚙  PRINCIPLES OF OPERATION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6E9EF"/>
                </a:solidFill>
                <a:latin typeface="Calibri"/>
              </a:rPr>
              <a:t>› Backend = single source of truth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6E9EF"/>
                </a:solidFill>
                <a:latin typeface="Calibri"/>
              </a:rPr>
              <a:t>› Live signal == validated backtest engine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6E9EF"/>
                </a:solidFill>
                <a:latin typeface="Calibri"/>
              </a:rPr>
              <a:t>› Faithful projection (TG · Pine · PWA mirror it)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6E9EF"/>
                </a:solidFill>
                <a:latin typeface="Calibri"/>
              </a:rPr>
              <a:t>› Execution truth (TG = what actually filled)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6E9EF"/>
                </a:solidFill>
                <a:latin typeface="Calibri"/>
              </a:rPr>
              <a:t>› Validated edge only (+$5.5k / 5 yrs)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6E9EF"/>
                </a:solidFill>
                <a:latin typeface="Calibri"/>
              </a:rPr>
              <a:t>› Resilience without noise (graceful fallback)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6E9EF"/>
                </a:solidFill>
                <a:latin typeface="Calibri"/>
              </a:rPr>
              <a:t>› GitOps control (backend sealed, GitHub = bus)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6E9EF"/>
                </a:solidFill>
                <a:latin typeface="Calibri"/>
              </a:rPr>
              <a:t>› Honest accounting (real fills + auto-debrief)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520440"/>
            <a:ext cx="3886200" cy="246888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82296" cy="246888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39312"/>
            <a:ext cx="3520440" cy="22311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50">
                <a:solidFill>
                  <a:srgbClr val="5B8DEF"/>
                </a:solidFill>
                <a:latin typeface="Calibri"/>
              </a:rPr>
              <a:t>🧠  THE BOSS &amp; ITS PROJECTIONS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Persistent FastAPI engine (launchd KeepAlive)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Feed → predictor → BS pricing → execution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State in live_state.json (the one truth)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3 projections: Telegram · Pine · PWA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Publisher → GitHub snapshot every 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46136" y="3520440"/>
            <a:ext cx="3886200" cy="246888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46136" y="3520440"/>
            <a:ext cx="82296" cy="24688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3639312"/>
            <a:ext cx="3520440" cy="22311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50">
                <a:solidFill>
                  <a:srgbClr val="A78BFA"/>
                </a:solidFill>
                <a:latin typeface="Calibri"/>
              </a:rPr>
              <a:t>🔌  INTEGRATIONS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Feeds: Alpaca → IBKR → yfinance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Execution: Alpaca paper (SPY, 1/10 scale)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Pricing: Black-Scholes · CBOE chains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Macro/news: Finnhub  (not Motley Fool)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Alerts: Telegram @Tron_shaft_bot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E6E9EF"/>
                </a:solidFill>
                <a:latin typeface="Calibri"/>
              </a:rPr>
              <a:t>•  Mirror: TradingView Pine · UI: PWA +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"/>
            <a:ext cx="12191695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b="1" sz="2000">
                <a:solidFill>
                  <a:srgbClr val="E6E9EF"/>
                </a:solidFill>
                <a:latin typeface="Calibri"/>
              </a:rPr>
              <a:t>How it's put together — the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64008" cy="96012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252728"/>
            <a:ext cx="1737360" cy="74066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b="1" sz="1150">
                <a:solidFill>
                  <a:srgbClr val="E6E9EF"/>
                </a:solidFill>
                <a:latin typeface="Calibri"/>
              </a:rPr>
              <a:t>5-min Bar Feed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8A93A6"/>
                </a:solidFill>
                <a:latin typeface="Calibri"/>
              </a:rPr>
              <a:t>Alpaca→IBKR→yfinance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04872" y="1623060"/>
            <a:ext cx="274320" cy="0"/>
          </a:xfrm>
          <a:prstGeom prst="line">
            <a:avLst/>
          </a:prstGeom>
          <a:ln w="22225">
            <a:solidFill>
              <a:srgbClr val="8A9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79192" y="114300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79192" y="1143000"/>
            <a:ext cx="64008" cy="96012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5496" y="1252728"/>
            <a:ext cx="1737360" cy="74066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b="1" sz="1150">
                <a:solidFill>
                  <a:srgbClr val="E6E9EF"/>
                </a:solidFill>
                <a:latin typeface="Calibri"/>
              </a:rPr>
              <a:t>Predictor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8A93A6"/>
                </a:solidFill>
                <a:latin typeface="Calibri"/>
              </a:rPr>
              <a:t>run_backtest on rolling buffer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72584" y="1623060"/>
            <a:ext cx="274320" cy="0"/>
          </a:xfrm>
          <a:prstGeom prst="line">
            <a:avLst/>
          </a:prstGeom>
          <a:ln w="22225">
            <a:solidFill>
              <a:srgbClr val="8A9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46904" y="114300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46904" y="1143000"/>
            <a:ext cx="64008" cy="960120"/>
          </a:xfrm>
          <a:prstGeom prst="rect">
            <a:avLst/>
          </a:prstGeom>
          <a:solidFill>
            <a:srgbClr val="F0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3208" y="1252728"/>
            <a:ext cx="1737360" cy="74066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b="1" sz="1150">
                <a:solidFill>
                  <a:srgbClr val="E6E9EF"/>
                </a:solidFill>
                <a:latin typeface="Calibri"/>
              </a:rPr>
              <a:t>Confluence + VWAP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8A93A6"/>
                </a:solidFill>
                <a:latin typeface="Calibri"/>
              </a:rPr>
              <a:t>≥3 of 4 factors · gate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0296" y="1623060"/>
            <a:ext cx="274320" cy="0"/>
          </a:xfrm>
          <a:prstGeom prst="line">
            <a:avLst/>
          </a:prstGeom>
          <a:ln w="22225">
            <a:solidFill>
              <a:srgbClr val="8A9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14616" y="114300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14616" y="1143000"/>
            <a:ext cx="64008" cy="9601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19" y="1252728"/>
            <a:ext cx="1737360" cy="74066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b="1" sz="1150">
                <a:solidFill>
                  <a:srgbClr val="E6E9EF"/>
                </a:solidFill>
                <a:latin typeface="Calibri"/>
              </a:rPr>
              <a:t>Black-Scholes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8A93A6"/>
                </a:solidFill>
                <a:latin typeface="Calibri"/>
              </a:rPr>
              <a:t>30Δ strikes + credit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08008" y="1623060"/>
            <a:ext cx="274320" cy="0"/>
          </a:xfrm>
          <a:prstGeom prst="line">
            <a:avLst/>
          </a:prstGeom>
          <a:ln w="22225">
            <a:solidFill>
              <a:srgbClr val="8A9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482328" y="114300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82328" y="1143000"/>
            <a:ext cx="64008" cy="9601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8632" y="1252728"/>
            <a:ext cx="1737360" cy="74066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b="1" sz="1150">
                <a:solidFill>
                  <a:srgbClr val="E6E9EF"/>
                </a:solidFill>
                <a:latin typeface="Calibri"/>
              </a:rPr>
              <a:t>Alpaca paper order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8A93A6"/>
                </a:solidFill>
                <a:latin typeface="Calibri"/>
              </a:rPr>
              <a:t>SPY · 1/10 scale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479024" y="2103120"/>
            <a:ext cx="0" cy="685800"/>
          </a:xfrm>
          <a:prstGeom prst="line">
            <a:avLst/>
          </a:prstGeom>
          <a:ln w="25400">
            <a:solidFill>
              <a:srgbClr val="26A6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06240" y="2788920"/>
            <a:ext cx="3776472" cy="1051560"/>
          </a:xfrm>
          <a:prstGeom prst="roundRect">
            <a:avLst>
              <a:gd name="adj" fmla="val 12000"/>
            </a:avLst>
          </a:prstGeom>
          <a:solidFill>
            <a:srgbClr val="151922"/>
          </a:solidFill>
          <a:ln w="25400">
            <a:solidFill>
              <a:srgbClr val="26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2788920"/>
            <a:ext cx="91440" cy="105156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916936"/>
            <a:ext cx="3319272" cy="795527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b="1" sz="1400">
                <a:solidFill>
                  <a:srgbClr val="26A69A"/>
                </a:solidFill>
                <a:latin typeface="Calibri"/>
              </a:rPr>
              <a:t>THE BOSS  ·  live_state.json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8A93A6"/>
                </a:solidFill>
                <a:latin typeface="Calibri"/>
              </a:rPr>
              <a:t>Single source of truth — every projection derives from here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2907792"/>
            <a:ext cx="1737360" cy="822960"/>
          </a:xfrm>
          <a:prstGeom prst="roundRect">
            <a:avLst>
              <a:gd name="adj" fmla="val 8000"/>
            </a:avLst>
          </a:prstGeom>
          <a:solidFill>
            <a:srgbClr val="11141B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2907792"/>
            <a:ext cx="64008" cy="822960"/>
          </a:xfrm>
          <a:prstGeom prst="rect">
            <a:avLst/>
          </a:prstGeom>
          <a:solidFill>
            <a:srgbClr val="F0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99232"/>
            <a:ext cx="15544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b="1" sz="1100">
                <a:solidFill>
                  <a:srgbClr val="F0A33C"/>
                </a:solidFill>
                <a:latin typeface="Calibri"/>
              </a:rPr>
              <a:t>Finnhub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8A93A6"/>
                </a:solidFill>
                <a:latin typeface="Calibri"/>
              </a:rPr>
              <a:t>macro · news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148840" y="3314700"/>
            <a:ext cx="2057400" cy="4572"/>
          </a:xfrm>
          <a:prstGeom prst="line">
            <a:avLst/>
          </a:prstGeom>
          <a:ln w="19050">
            <a:solidFill>
              <a:srgbClr val="8A9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058400" y="2907792"/>
            <a:ext cx="1737360" cy="822960"/>
          </a:xfrm>
          <a:prstGeom prst="roundRect">
            <a:avLst>
              <a:gd name="adj" fmla="val 8000"/>
            </a:avLst>
          </a:prstGeom>
          <a:solidFill>
            <a:srgbClr val="11141B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58400" y="2907792"/>
            <a:ext cx="64008" cy="8229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2999232"/>
            <a:ext cx="15544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b="1" sz="1100">
                <a:solidFill>
                  <a:srgbClr val="A78BFA"/>
                </a:solidFill>
                <a:latin typeface="Calibri"/>
              </a:rPr>
              <a:t>CBOE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8A93A6"/>
                </a:solidFill>
                <a:latin typeface="Calibri"/>
              </a:rPr>
              <a:t>IC chains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7982712" y="3314700"/>
            <a:ext cx="2075688" cy="4572"/>
          </a:xfrm>
          <a:prstGeom prst="line">
            <a:avLst/>
          </a:prstGeom>
          <a:ln w="19050">
            <a:solidFill>
              <a:srgbClr val="8A9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747875" y="3840479"/>
            <a:ext cx="4346600" cy="1051561"/>
          </a:xfrm>
          <a:prstGeom prst="line">
            <a:avLst/>
          </a:prstGeom>
          <a:ln w="22225">
            <a:solidFill>
              <a:srgbClr val="26A6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44855" y="48920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4855" y="4892040"/>
            <a:ext cx="73152" cy="114300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447" y="5038344"/>
            <a:ext cx="2295144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250">
                <a:solidFill>
                  <a:srgbClr val="26A69A"/>
                </a:solidFill>
                <a:latin typeface="Calibri"/>
              </a:rPr>
              <a:t>Telegram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>
                <a:solidFill>
                  <a:srgbClr val="8A93A6"/>
                </a:solidFill>
                <a:latin typeface="Calibri"/>
              </a:rPr>
              <a:t>alerts + GitOps control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4646523" y="3840479"/>
            <a:ext cx="1447952" cy="1051561"/>
          </a:xfrm>
          <a:prstGeom prst="line">
            <a:avLst/>
          </a:prstGeom>
          <a:ln w="22225">
            <a:solidFill>
              <a:srgbClr val="5B8D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343503" y="48920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43503" y="4892040"/>
            <a:ext cx="73152" cy="1143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08095" y="5038344"/>
            <a:ext cx="2295144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250">
                <a:solidFill>
                  <a:srgbClr val="5B8DEF"/>
                </a:solidFill>
                <a:latin typeface="Calibri"/>
              </a:rPr>
              <a:t>TradingView Pine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>
                <a:solidFill>
                  <a:srgbClr val="8A93A6"/>
                </a:solidFill>
                <a:latin typeface="Calibri"/>
              </a:rPr>
              <a:t>signal mirror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4475" y="3840479"/>
            <a:ext cx="1450696" cy="1051561"/>
          </a:xfrm>
          <a:prstGeom prst="line">
            <a:avLst/>
          </a:prstGeom>
          <a:ln w="22225">
            <a:solidFill>
              <a:srgbClr val="F0A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242151" y="48920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42151" y="4892040"/>
            <a:ext cx="73152" cy="1143000"/>
          </a:xfrm>
          <a:prstGeom prst="rect">
            <a:avLst/>
          </a:prstGeom>
          <a:solidFill>
            <a:srgbClr val="F0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6743" y="5038344"/>
            <a:ext cx="2295144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250">
                <a:solidFill>
                  <a:srgbClr val="F0A33C"/>
                </a:solidFill>
                <a:latin typeface="Calibri"/>
              </a:rPr>
              <a:t>PWA — live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>
                <a:solidFill>
                  <a:srgbClr val="8A93A6"/>
                </a:solidFill>
                <a:latin typeface="Calibri"/>
              </a:rPr>
              <a:t>localhost / Tailscale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094475" y="3840479"/>
            <a:ext cx="4349344" cy="1051561"/>
          </a:xfrm>
          <a:prstGeom prst="line">
            <a:avLst/>
          </a:prstGeom>
          <a:ln w="22225">
            <a:solidFill>
              <a:srgbClr val="A78B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140799" y="48920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51922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40799" y="4892040"/>
            <a:ext cx="73152" cy="1143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05391" y="5038344"/>
            <a:ext cx="2295144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250">
                <a:solidFill>
                  <a:srgbClr val="A78BFA"/>
                </a:solidFill>
                <a:latin typeface="Calibri"/>
              </a:rPr>
              <a:t>GitHub Pages PWA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>
                <a:solidFill>
                  <a:srgbClr val="8A93A6"/>
                </a:solidFill>
                <a:latin typeface="Calibri"/>
              </a:rPr>
              <a:t>snapshot · phone (read-only)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b="0" sz="1100">
                <a:solidFill>
                  <a:srgbClr val="8A93A6"/>
                </a:solidFill>
                <a:latin typeface="Calibri"/>
              </a:rPr>
              <a:t>Control loop: phone PWA → GitHub control branch → backend poller (≈60s) → applied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